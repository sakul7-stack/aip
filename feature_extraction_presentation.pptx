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Open Sauce Bold" charset="1" panose="00000800000000000000"/>
      <p:regular r:id="rId12"/>
    </p:embeddedFont>
    <p:embeddedFont>
      <p:font typeface="Open Sauce" charset="1" panose="00000500000000000000"/>
      <p:regular r:id="rId13"/>
    </p:embeddedFont>
    <p:embeddedFont>
      <p:font typeface="Lato" charset="1" panose="020F0502020204030203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2.pn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jpeg" Type="http://schemas.openxmlformats.org/officeDocument/2006/relationships/image"/><Relationship Id="rId3" Target="../media/VAHUHrYOut4.mp4" Type="http://schemas.openxmlformats.org/officeDocument/2006/relationships/video"/><Relationship Id="rId4" Target="../media/VAHUHrYOut4.mp4" Type="http://schemas.microsoft.com/office/2007/relationships/media"/><Relationship Id="rId5" Target="../media/image15.jpeg" Type="http://schemas.openxmlformats.org/officeDocument/2006/relationships/image"/><Relationship Id="rId6" Target="../media/VAHUHvOL_RQ.mp4" Type="http://schemas.openxmlformats.org/officeDocument/2006/relationships/video"/><Relationship Id="rId7" Target="../media/VAHUHvOL_RQ.mp4" Type="http://schemas.microsoft.com/office/2007/relationships/media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3123689"/>
            <a:ext cx="15923000" cy="2785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92"/>
              </a:lnSpc>
            </a:pPr>
            <a:r>
              <a:rPr lang="en-US" b="true" sz="6605" spc="-475">
                <a:solidFill>
                  <a:srgbClr val="21212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FEATURE EXTRACTION FOR</a:t>
            </a:r>
          </a:p>
          <a:p>
            <a:pPr algn="ctr">
              <a:lnSpc>
                <a:spcPts val="7292"/>
              </a:lnSpc>
            </a:pPr>
            <a:r>
              <a:rPr lang="en-US" b="true" sz="6605" spc="-475">
                <a:solidFill>
                  <a:srgbClr val="21212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IMAGE &amp; VIDEO ANALYSIS</a:t>
            </a:r>
          </a:p>
          <a:p>
            <a:pPr algn="ctr">
              <a:lnSpc>
                <a:spcPts val="7292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715038" y="5499744"/>
            <a:ext cx="14550323" cy="78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1"/>
              </a:lnSpc>
            </a:pPr>
            <a:r>
              <a:rPr lang="en-US" sz="2326">
                <a:solidFill>
                  <a:srgbClr val="636363"/>
                </a:solidFill>
                <a:latin typeface="Open Sauce"/>
                <a:ea typeface="Open Sauce"/>
                <a:cs typeface="Open Sauce"/>
                <a:sym typeface="Open Sauce"/>
              </a:rPr>
              <a:t>Comparing statistical, classical, and deep-learning approaches to turning raw pixels into compact, meaningful representations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30237" y="105645"/>
            <a:ext cx="2006530" cy="2369334"/>
          </a:xfrm>
          <a:custGeom>
            <a:avLst/>
            <a:gdLst/>
            <a:ahLst/>
            <a:cxnLst/>
            <a:rect r="r" b="b" t="t" l="l"/>
            <a:pathLst>
              <a:path h="2369334" w="2006530">
                <a:moveTo>
                  <a:pt x="0" y="0"/>
                </a:moveTo>
                <a:lnTo>
                  <a:pt x="2006530" y="0"/>
                </a:lnTo>
                <a:lnTo>
                  <a:pt x="2006530" y="2369334"/>
                </a:lnTo>
                <a:lnTo>
                  <a:pt x="0" y="23693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652220" y="709823"/>
            <a:ext cx="4719382" cy="1218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75"/>
              </a:lnSpc>
            </a:pPr>
            <a:r>
              <a:rPr lang="en-US" sz="2448">
                <a:solidFill>
                  <a:srgbClr val="253439"/>
                </a:solidFill>
                <a:latin typeface="Lato"/>
                <a:ea typeface="Lato"/>
                <a:cs typeface="Lato"/>
                <a:sym typeface="Lato"/>
              </a:rPr>
              <a:t>Tribhuvan University, IOE Pulchowk Campus</a:t>
            </a:r>
          </a:p>
          <a:p>
            <a:pPr algn="l" marL="0" indent="0" lvl="0">
              <a:lnSpc>
                <a:spcPts val="2375"/>
              </a:lnSpc>
            </a:pPr>
            <a:r>
              <a:rPr lang="en-US" sz="2448">
                <a:solidFill>
                  <a:srgbClr val="253439"/>
                </a:solidFill>
                <a:latin typeface="Lato"/>
                <a:ea typeface="Lato"/>
                <a:cs typeface="Lato"/>
                <a:sym typeface="Lato"/>
              </a:rPr>
              <a:t>Dept. of Electronics &amp; Computer Engineering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19710" y="6430441"/>
            <a:ext cx="15923000" cy="1920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50"/>
              </a:lnSpc>
            </a:pPr>
            <a:r>
              <a:rPr lang="en-US" b="true" sz="2100" spc="-151">
                <a:solidFill>
                  <a:srgbClr val="21212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ABHISHU PANTHI (080BCT009)</a:t>
            </a:r>
          </a:p>
          <a:p>
            <a:pPr algn="ctr">
              <a:lnSpc>
                <a:spcPts val="5250"/>
              </a:lnSpc>
            </a:pPr>
            <a:r>
              <a:rPr lang="en-US" b="true" sz="2100" spc="-151">
                <a:solidFill>
                  <a:srgbClr val="21212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JENIF KHADKA (080BCT036)</a:t>
            </a:r>
          </a:p>
          <a:p>
            <a:pPr algn="ctr">
              <a:lnSpc>
                <a:spcPts val="5250"/>
              </a:lnSpc>
            </a:pPr>
            <a:r>
              <a:rPr lang="en-US" b="true" sz="2100" spc="-151">
                <a:solidFill>
                  <a:srgbClr val="21212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KUSHAL K.C. (080BCT041)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754380" cy="754380"/>
            <a:chOff x="0" y="0"/>
            <a:chExt cx="1005840" cy="1005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3885A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576072"/>
            <a:ext cx="754380" cy="754380"/>
            <a:chOff x="0" y="0"/>
            <a:chExt cx="100584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1005840" cy="1005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b="true" sz="2700" spc="-159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01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851660" y="480060"/>
            <a:ext cx="15499080" cy="960120"/>
            <a:chOff x="0" y="0"/>
            <a:chExt cx="20665440" cy="1280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665439" cy="1280160"/>
            </a:xfrm>
            <a:custGeom>
              <a:avLst/>
              <a:gdLst/>
              <a:ahLst/>
              <a:cxnLst/>
              <a:rect r="r" b="b" t="t" l="l"/>
              <a:pathLst>
                <a:path h="1280160" w="20665439">
                  <a:moveTo>
                    <a:pt x="0" y="0"/>
                  </a:moveTo>
                  <a:lnTo>
                    <a:pt x="20665439" y="0"/>
                  </a:lnTo>
                  <a:lnTo>
                    <a:pt x="206654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4544" r="0" b="-26454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20665440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sz="4050" spc="-238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WHY FEATURE EXTRACTION?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851660" y="1440180"/>
            <a:ext cx="15499080" cy="822960"/>
            <a:chOff x="0" y="0"/>
            <a:chExt cx="20665440" cy="10972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665439" cy="1097280"/>
            </a:xfrm>
            <a:custGeom>
              <a:avLst/>
              <a:gdLst/>
              <a:ahLst/>
              <a:cxnLst/>
              <a:rect r="r" b="b" t="t" l="l"/>
              <a:pathLst>
                <a:path h="1097280" w="20665439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6968" r="0" b="-31696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66544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Raw pixels are high-dimensional and redundant. Feature extraction re-expresses an image or video as a compact, meaningful vector. The same input, seen through three different lenses.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97280" y="2674620"/>
            <a:ext cx="5047488" cy="4869180"/>
            <a:chOff x="0" y="0"/>
            <a:chExt cx="6729984" cy="6492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729985" cy="6492240"/>
            </a:xfrm>
            <a:custGeom>
              <a:avLst/>
              <a:gdLst/>
              <a:ahLst/>
              <a:cxnLst/>
              <a:rect r="r" b="b" t="t" l="l"/>
              <a:pathLst>
                <a:path h="6492240" w="6729985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6510528" y="0"/>
                  </a:lnTo>
                  <a:cubicBezTo>
                    <a:pt x="6631686" y="0"/>
                    <a:pt x="6729985" y="98298"/>
                    <a:pt x="6729985" y="219456"/>
                  </a:cubicBezTo>
                  <a:lnTo>
                    <a:pt x="6729985" y="6272784"/>
                  </a:lnTo>
                  <a:cubicBezTo>
                    <a:pt x="6729985" y="6393942"/>
                    <a:pt x="6631686" y="6492240"/>
                    <a:pt x="6510528" y="6492240"/>
                  </a:cubicBezTo>
                  <a:lnTo>
                    <a:pt x="219456" y="6492240"/>
                  </a:lnTo>
                  <a:cubicBezTo>
                    <a:pt x="98298" y="6492240"/>
                    <a:pt x="0" y="6393942"/>
                    <a:pt x="0" y="6272784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3003804" y="3154680"/>
            <a:ext cx="1234440" cy="1234440"/>
            <a:chOff x="0" y="0"/>
            <a:chExt cx="1645920" cy="1645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3885AB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354324" y="3483864"/>
            <a:ext cx="576072" cy="576072"/>
            <a:chOff x="0" y="0"/>
            <a:chExt cx="768096" cy="768096"/>
          </a:xfrm>
        </p:grpSpPr>
        <p:sp>
          <p:nvSpPr>
            <p:cNvPr name="Freeform 18" id="18" descr="/home/claude/icons/pca_FFFFFF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440180" y="4622292"/>
            <a:ext cx="4361688" cy="438912"/>
            <a:chOff x="0" y="0"/>
            <a:chExt cx="5815584" cy="58521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815584" cy="585216"/>
            </a:xfrm>
            <a:custGeom>
              <a:avLst/>
              <a:gdLst/>
              <a:ahLst/>
              <a:cxnLst/>
              <a:rect r="r" b="b" t="t" l="l"/>
              <a:pathLst>
                <a:path h="585216" w="5815584">
                  <a:moveTo>
                    <a:pt x="0" y="0"/>
                  </a:moveTo>
                  <a:lnTo>
                    <a:pt x="5815584" y="0"/>
                  </a:lnTo>
                  <a:lnTo>
                    <a:pt x="581558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3632" r="0" b="-14363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9525"/>
              <a:ext cx="5815584" cy="5756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b="true" sz="1725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STATISTICAL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440180" y="5033772"/>
            <a:ext cx="4361688" cy="548640"/>
            <a:chOff x="0" y="0"/>
            <a:chExt cx="5815584" cy="73152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815584" cy="731520"/>
            </a:xfrm>
            <a:custGeom>
              <a:avLst/>
              <a:gdLst/>
              <a:ahLst/>
              <a:cxnLst/>
              <a:rect r="r" b="b" t="t" l="l"/>
              <a:pathLst>
                <a:path h="731520" w="5815584">
                  <a:moveTo>
                    <a:pt x="0" y="0"/>
                  </a:moveTo>
                  <a:lnTo>
                    <a:pt x="5815584" y="0"/>
                  </a:lnTo>
                  <a:lnTo>
                    <a:pt x="581558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906" r="0" b="-104906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5815584" cy="7219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b="true" sz="2550" spc="-1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PCA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536192" y="5760720"/>
            <a:ext cx="4169664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Finds the directions of maximum variance and projects pixels onto a handful of them, a compact, reconstructable summary.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597396" y="2674620"/>
            <a:ext cx="5047488" cy="4869180"/>
            <a:chOff x="0" y="0"/>
            <a:chExt cx="6729984" cy="64922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729985" cy="6492240"/>
            </a:xfrm>
            <a:custGeom>
              <a:avLst/>
              <a:gdLst/>
              <a:ahLst/>
              <a:cxnLst/>
              <a:rect r="r" b="b" t="t" l="l"/>
              <a:pathLst>
                <a:path h="6492240" w="6729985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6510528" y="0"/>
                  </a:lnTo>
                  <a:cubicBezTo>
                    <a:pt x="6631686" y="0"/>
                    <a:pt x="6729985" y="98298"/>
                    <a:pt x="6729985" y="219456"/>
                  </a:cubicBezTo>
                  <a:lnTo>
                    <a:pt x="6729985" y="6272784"/>
                  </a:lnTo>
                  <a:cubicBezTo>
                    <a:pt x="6729985" y="6393942"/>
                    <a:pt x="6631686" y="6492240"/>
                    <a:pt x="6510528" y="6492240"/>
                  </a:cubicBezTo>
                  <a:lnTo>
                    <a:pt x="219456" y="6492240"/>
                  </a:lnTo>
                  <a:cubicBezTo>
                    <a:pt x="98298" y="6492240"/>
                    <a:pt x="0" y="6393942"/>
                    <a:pt x="0" y="6272784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8503920" y="3154680"/>
            <a:ext cx="1234440" cy="1234440"/>
            <a:chOff x="0" y="0"/>
            <a:chExt cx="1645920" cy="16459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3885AB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8833104" y="3483864"/>
            <a:ext cx="576072" cy="576072"/>
            <a:chOff x="0" y="0"/>
            <a:chExt cx="768096" cy="768096"/>
          </a:xfrm>
        </p:grpSpPr>
        <p:sp>
          <p:nvSpPr>
            <p:cNvPr name="Freeform 31" id="31" descr="/home/claude/icons/canny_FFFFFF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6940296" y="4622292"/>
            <a:ext cx="4361688" cy="438912"/>
            <a:chOff x="0" y="0"/>
            <a:chExt cx="5815584" cy="58521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815584" cy="585216"/>
            </a:xfrm>
            <a:custGeom>
              <a:avLst/>
              <a:gdLst/>
              <a:ahLst/>
              <a:cxnLst/>
              <a:rect r="r" b="b" t="t" l="l"/>
              <a:pathLst>
                <a:path h="585216" w="5815584">
                  <a:moveTo>
                    <a:pt x="0" y="0"/>
                  </a:moveTo>
                  <a:lnTo>
                    <a:pt x="5815584" y="0"/>
                  </a:lnTo>
                  <a:lnTo>
                    <a:pt x="581558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3632" r="0" b="-143632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9525"/>
              <a:ext cx="5815584" cy="5756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b="true" sz="1725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CLASSICAL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940296" y="5033772"/>
            <a:ext cx="4361688" cy="548640"/>
            <a:chOff x="0" y="0"/>
            <a:chExt cx="5815584" cy="7315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815584" cy="731520"/>
            </a:xfrm>
            <a:custGeom>
              <a:avLst/>
              <a:gdLst/>
              <a:ahLst/>
              <a:cxnLst/>
              <a:rect r="r" b="b" t="t" l="l"/>
              <a:pathLst>
                <a:path h="731520" w="5815584">
                  <a:moveTo>
                    <a:pt x="0" y="0"/>
                  </a:moveTo>
                  <a:lnTo>
                    <a:pt x="5815584" y="0"/>
                  </a:lnTo>
                  <a:lnTo>
                    <a:pt x="581558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906" r="0" b="-104906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9525"/>
              <a:ext cx="5815584" cy="7219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b="true" sz="2550" spc="-1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CANNY EDGE DETECTION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7036308" y="5760720"/>
            <a:ext cx="4169664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hand-crafted detector that isolates object boundaries and structure from intensity gradients.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2097512" y="2674620"/>
            <a:ext cx="5047488" cy="4869180"/>
            <a:chOff x="0" y="0"/>
            <a:chExt cx="6729984" cy="64922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729985" cy="6492240"/>
            </a:xfrm>
            <a:custGeom>
              <a:avLst/>
              <a:gdLst/>
              <a:ahLst/>
              <a:cxnLst/>
              <a:rect r="r" b="b" t="t" l="l"/>
              <a:pathLst>
                <a:path h="6492240" w="6729985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6510528" y="0"/>
                  </a:lnTo>
                  <a:cubicBezTo>
                    <a:pt x="6631686" y="0"/>
                    <a:pt x="6729985" y="98298"/>
                    <a:pt x="6729985" y="219456"/>
                  </a:cubicBezTo>
                  <a:lnTo>
                    <a:pt x="6729985" y="6272784"/>
                  </a:lnTo>
                  <a:cubicBezTo>
                    <a:pt x="6729985" y="6393942"/>
                    <a:pt x="6631686" y="6492240"/>
                    <a:pt x="6510528" y="6492240"/>
                  </a:cubicBezTo>
                  <a:lnTo>
                    <a:pt x="219456" y="6492240"/>
                  </a:lnTo>
                  <a:cubicBezTo>
                    <a:pt x="98298" y="6492240"/>
                    <a:pt x="0" y="6393942"/>
                    <a:pt x="0" y="6272784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4004036" y="3154680"/>
            <a:ext cx="1234440" cy="1234440"/>
            <a:chOff x="0" y="0"/>
            <a:chExt cx="1645920" cy="16459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3885AB"/>
            </a:solid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4333220" y="3483864"/>
            <a:ext cx="576072" cy="576072"/>
            <a:chOff x="0" y="0"/>
            <a:chExt cx="768096" cy="768096"/>
          </a:xfrm>
        </p:grpSpPr>
        <p:sp>
          <p:nvSpPr>
            <p:cNvPr name="Freeform 44" id="44" descr="/home/claude/icons/resnet_FFFFFF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2440412" y="4622292"/>
            <a:ext cx="4361688" cy="438912"/>
            <a:chOff x="0" y="0"/>
            <a:chExt cx="5815584" cy="58521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815584" cy="585216"/>
            </a:xfrm>
            <a:custGeom>
              <a:avLst/>
              <a:gdLst/>
              <a:ahLst/>
              <a:cxnLst/>
              <a:rect r="r" b="b" t="t" l="l"/>
              <a:pathLst>
                <a:path h="585216" w="5815584">
                  <a:moveTo>
                    <a:pt x="0" y="0"/>
                  </a:moveTo>
                  <a:lnTo>
                    <a:pt x="5815584" y="0"/>
                  </a:lnTo>
                  <a:lnTo>
                    <a:pt x="581558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3632" r="0" b="-143632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9525"/>
              <a:ext cx="5815584" cy="5756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b="true" sz="1725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DEEP LEARNING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2440412" y="5033772"/>
            <a:ext cx="4361688" cy="548640"/>
            <a:chOff x="0" y="0"/>
            <a:chExt cx="5815584" cy="73152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815584" cy="731520"/>
            </a:xfrm>
            <a:custGeom>
              <a:avLst/>
              <a:gdLst/>
              <a:ahLst/>
              <a:cxnLst/>
              <a:rect r="r" b="b" t="t" l="l"/>
              <a:pathLst>
                <a:path h="731520" w="5815584">
                  <a:moveTo>
                    <a:pt x="0" y="0"/>
                  </a:moveTo>
                  <a:lnTo>
                    <a:pt x="5815584" y="0"/>
                  </a:lnTo>
                  <a:lnTo>
                    <a:pt x="581558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906" r="0" b="-104906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9525"/>
              <a:ext cx="5815584" cy="7219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b="true" sz="2550" spc="-1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RESNET18 (CNN)</a:t>
              </a: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12536424" y="5760720"/>
            <a:ext cx="4169664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pretrained network learns a hierarchy of visual patterns automatically, no manual design needed.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1097280" y="7886700"/>
            <a:ext cx="16088868" cy="1165860"/>
            <a:chOff x="0" y="0"/>
            <a:chExt cx="21451824" cy="155448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1451824" cy="1554480"/>
            </a:xfrm>
            <a:custGeom>
              <a:avLst/>
              <a:gdLst/>
              <a:ahLst/>
              <a:cxnLst/>
              <a:rect r="r" b="b" t="t" l="l"/>
              <a:pathLst>
                <a:path h="1554480" w="2145182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1268944" y="0"/>
                  </a:lnTo>
                  <a:cubicBezTo>
                    <a:pt x="21369908" y="0"/>
                    <a:pt x="21451824" y="81915"/>
                    <a:pt x="21451824" y="182880"/>
                  </a:cubicBezTo>
                  <a:lnTo>
                    <a:pt x="21451824" y="1371600"/>
                  </a:lnTo>
                  <a:cubicBezTo>
                    <a:pt x="21451824" y="1472565"/>
                    <a:pt x="21369908" y="1554480"/>
                    <a:pt x="21268944" y="1554480"/>
                  </a:cubicBezTo>
                  <a:lnTo>
                    <a:pt x="182880" y="1554480"/>
                  </a:lnTo>
                  <a:cubicBezTo>
                    <a:pt x="81915" y="1554480"/>
                    <a:pt x="0" y="1472565"/>
                    <a:pt x="0" y="1371600"/>
                  </a:cubicBezTo>
                  <a:close/>
                </a:path>
              </a:pathLst>
            </a:custGeom>
            <a:solidFill>
              <a:srgbClr val="3885AB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508760" y="8140446"/>
            <a:ext cx="658368" cy="658368"/>
            <a:chOff x="0" y="0"/>
            <a:chExt cx="877824" cy="877824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877824" cy="877824"/>
            </a:xfrm>
            <a:custGeom>
              <a:avLst/>
              <a:gdLst/>
              <a:ahLst/>
              <a:cxnLst/>
              <a:rect r="r" b="b" t="t" l="l"/>
              <a:pathLst>
                <a:path h="877824" w="877824">
                  <a:moveTo>
                    <a:pt x="0" y="438912"/>
                  </a:moveTo>
                  <a:cubicBezTo>
                    <a:pt x="0" y="196469"/>
                    <a:pt x="196469" y="0"/>
                    <a:pt x="438912" y="0"/>
                  </a:cubicBezTo>
                  <a:cubicBezTo>
                    <a:pt x="681355" y="0"/>
                    <a:pt x="877824" y="196469"/>
                    <a:pt x="877824" y="438912"/>
                  </a:cubicBezTo>
                  <a:cubicBezTo>
                    <a:pt x="877824" y="681355"/>
                    <a:pt x="681355" y="877824"/>
                    <a:pt x="438912" y="877824"/>
                  </a:cubicBezTo>
                  <a:cubicBezTo>
                    <a:pt x="196469" y="877824"/>
                    <a:pt x="0" y="681355"/>
                    <a:pt x="0" y="438912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724025" y="8355711"/>
            <a:ext cx="227838" cy="227838"/>
            <a:chOff x="0" y="0"/>
            <a:chExt cx="365760" cy="365760"/>
          </a:xfrm>
        </p:grpSpPr>
        <p:sp>
          <p:nvSpPr>
            <p:cNvPr name="Freeform 57" id="57" descr="/home/claude/icons/video_FFFFFF.png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0"/>
                  </a:moveTo>
                  <a:lnTo>
                    <a:pt x="365760" y="0"/>
                  </a:lnTo>
                  <a:lnTo>
                    <a:pt x="365760" y="365760"/>
                  </a:lnTo>
                  <a:lnTo>
                    <a:pt x="0" y="365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2537460" y="7886700"/>
            <a:ext cx="14264640" cy="1165860"/>
            <a:chOff x="0" y="0"/>
            <a:chExt cx="19019520" cy="155448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901952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9019520">
                  <a:moveTo>
                    <a:pt x="0" y="0"/>
                  </a:moveTo>
                  <a:lnTo>
                    <a:pt x="19019520" y="0"/>
                  </a:lnTo>
                  <a:lnTo>
                    <a:pt x="1901952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8405" r="0" b="-18840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19019520" cy="1554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b="true" sz="2025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And it doesn’t stop at images, the same ideas extend to video, adding spatial structure and temporal motion.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7145000" y="9820656"/>
            <a:ext cx="548640" cy="384048"/>
            <a:chOff x="0" y="0"/>
            <a:chExt cx="731520" cy="51206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73152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b="true" sz="13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754380" cy="754380"/>
            <a:chOff x="0" y="0"/>
            <a:chExt cx="1005840" cy="1005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3885A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576072"/>
            <a:ext cx="754380" cy="754380"/>
            <a:chOff x="0" y="0"/>
            <a:chExt cx="100584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1005840" cy="1005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b="true" sz="2700" spc="-159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02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851660" y="480060"/>
            <a:ext cx="15499080" cy="960120"/>
            <a:chOff x="0" y="0"/>
            <a:chExt cx="20665440" cy="1280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665439" cy="1280160"/>
            </a:xfrm>
            <a:custGeom>
              <a:avLst/>
              <a:gdLst/>
              <a:ahLst/>
              <a:cxnLst/>
              <a:rect r="r" b="b" t="t" l="l"/>
              <a:pathLst>
                <a:path h="1280160" w="20665439">
                  <a:moveTo>
                    <a:pt x="0" y="0"/>
                  </a:moveTo>
                  <a:lnTo>
                    <a:pt x="20665439" y="0"/>
                  </a:lnTo>
                  <a:lnTo>
                    <a:pt x="206654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4544" r="0" b="-26454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20665440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sz="4050" spc="-238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STATISTICAL &amp; CLASSICAL FEATURE EXTRACTION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97280" y="1755648"/>
            <a:ext cx="16047720" cy="548640"/>
            <a:chOff x="0" y="0"/>
            <a:chExt cx="21396960" cy="7315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396961" cy="731520"/>
            </a:xfrm>
            <a:custGeom>
              <a:avLst/>
              <a:gdLst/>
              <a:ahLst/>
              <a:cxnLst/>
              <a:rect r="r" b="b" t="t" l="l"/>
              <a:pathLst>
                <a:path h="73152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937" r="0" b="-519937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21396960" cy="731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PCA → Dimensionality Reduction  83 of 256 components capture 95.2% of the variance  (reconstruction MSE 120.4)</a:t>
              </a:r>
            </a:p>
          </p:txBody>
        </p:sp>
      </p:grpSp>
      <p:sp>
        <p:nvSpPr>
          <p:cNvPr name="AutoShape 13" id="13"/>
          <p:cNvSpPr/>
          <p:nvPr/>
        </p:nvSpPr>
        <p:spPr>
          <a:xfrm>
            <a:off x="1242818" y="6190678"/>
            <a:ext cx="16107916" cy="19117"/>
          </a:xfrm>
          <a:prstGeom prst="line">
            <a:avLst/>
          </a:prstGeom>
          <a:ln cap="rnd" w="9525">
            <a:solidFill>
              <a:srgbClr val="BBD6E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1097280" y="6185916"/>
            <a:ext cx="16047720" cy="548640"/>
            <a:chOff x="0" y="0"/>
            <a:chExt cx="21396960" cy="731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396961" cy="731520"/>
            </a:xfrm>
            <a:custGeom>
              <a:avLst/>
              <a:gdLst/>
              <a:ahLst/>
              <a:cxnLst/>
              <a:rect r="r" b="b" t="t" l="l"/>
              <a:pathLst>
                <a:path h="73152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937" r="0" b="-519937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21396960" cy="731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Canny Edge Detection 4.7% global edge density  →  16-value block feature vector (4×4 grid)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145000" y="9820656"/>
            <a:ext cx="548640" cy="384048"/>
            <a:chOff x="0" y="0"/>
            <a:chExt cx="731520" cy="51206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73152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b="true" sz="13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3</a:t>
              </a: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2074847" y="2304288"/>
            <a:ext cx="9492885" cy="3814953"/>
          </a:xfrm>
          <a:custGeom>
            <a:avLst/>
            <a:gdLst/>
            <a:ahLst/>
            <a:cxnLst/>
            <a:rect r="r" b="b" t="t" l="l"/>
            <a:pathLst>
              <a:path h="3814953" w="9492885">
                <a:moveTo>
                  <a:pt x="0" y="0"/>
                </a:moveTo>
                <a:lnTo>
                  <a:pt x="9492884" y="0"/>
                </a:lnTo>
                <a:lnTo>
                  <a:pt x="9492884" y="3814953"/>
                </a:lnTo>
                <a:lnTo>
                  <a:pt x="0" y="38149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074847" y="6734556"/>
            <a:ext cx="9684279" cy="3171601"/>
          </a:xfrm>
          <a:custGeom>
            <a:avLst/>
            <a:gdLst/>
            <a:ahLst/>
            <a:cxnLst/>
            <a:rect r="r" b="b" t="t" l="l"/>
            <a:pathLst>
              <a:path h="3171601" w="9684279">
                <a:moveTo>
                  <a:pt x="0" y="0"/>
                </a:moveTo>
                <a:lnTo>
                  <a:pt x="9684278" y="0"/>
                </a:lnTo>
                <a:lnTo>
                  <a:pt x="9684278" y="3171601"/>
                </a:lnTo>
                <a:lnTo>
                  <a:pt x="0" y="3171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1567731" y="2618613"/>
            <a:ext cx="2763881" cy="3175203"/>
          </a:xfrm>
          <a:custGeom>
            <a:avLst/>
            <a:gdLst/>
            <a:ahLst/>
            <a:cxnLst/>
            <a:rect r="r" b="b" t="t" l="l"/>
            <a:pathLst>
              <a:path h="3175203" w="2763881">
                <a:moveTo>
                  <a:pt x="0" y="0"/>
                </a:moveTo>
                <a:lnTo>
                  <a:pt x="2763882" y="0"/>
                </a:lnTo>
                <a:lnTo>
                  <a:pt x="2763882" y="3175203"/>
                </a:lnTo>
                <a:lnTo>
                  <a:pt x="0" y="31752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754380" cy="754380"/>
            <a:chOff x="0" y="0"/>
            <a:chExt cx="1005840" cy="1005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3885A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576072"/>
            <a:ext cx="754380" cy="754380"/>
            <a:chOff x="0" y="0"/>
            <a:chExt cx="100584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1005840" cy="1005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b="true" sz="2700" spc="-159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851660" y="480060"/>
            <a:ext cx="15499080" cy="960120"/>
            <a:chOff x="0" y="0"/>
            <a:chExt cx="20665440" cy="1280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665439" cy="1280160"/>
            </a:xfrm>
            <a:custGeom>
              <a:avLst/>
              <a:gdLst/>
              <a:ahLst/>
              <a:cxnLst/>
              <a:rect r="r" b="b" t="t" l="l"/>
              <a:pathLst>
                <a:path h="1280160" w="20665439">
                  <a:moveTo>
                    <a:pt x="0" y="0"/>
                  </a:moveTo>
                  <a:lnTo>
                    <a:pt x="20665439" y="0"/>
                  </a:lnTo>
                  <a:lnTo>
                    <a:pt x="206654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4544" r="0" b="-26454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20665440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sz="4050" spc="-238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DEEP-LEARNED FEATURES: RESNET18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97280" y="4320540"/>
            <a:ext cx="7063740" cy="1399032"/>
            <a:chOff x="0" y="0"/>
            <a:chExt cx="9418320" cy="18653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418320" cy="1865376"/>
            </a:xfrm>
            <a:custGeom>
              <a:avLst/>
              <a:gdLst/>
              <a:ahLst/>
              <a:cxnLst/>
              <a:rect r="r" b="b" t="t" l="l"/>
              <a:pathLst>
                <a:path h="1865376" w="941832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9253728" y="0"/>
                  </a:lnTo>
                  <a:cubicBezTo>
                    <a:pt x="9344660" y="0"/>
                    <a:pt x="9418320" y="73660"/>
                    <a:pt x="9418320" y="164592"/>
                  </a:cubicBezTo>
                  <a:lnTo>
                    <a:pt x="9418320" y="1700784"/>
                  </a:lnTo>
                  <a:cubicBezTo>
                    <a:pt x="9418320" y="1791716"/>
                    <a:pt x="9344660" y="1865376"/>
                    <a:pt x="9253728" y="1865376"/>
                  </a:cubicBezTo>
                  <a:lnTo>
                    <a:pt x="164592" y="1865376"/>
                  </a:lnTo>
                  <a:cubicBezTo>
                    <a:pt x="73660" y="1865376"/>
                    <a:pt x="0" y="1791716"/>
                    <a:pt x="0" y="1700784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99032" y="4457700"/>
            <a:ext cx="6460236" cy="548640"/>
            <a:chOff x="0" y="0"/>
            <a:chExt cx="8613648" cy="7315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613648" cy="731520"/>
            </a:xfrm>
            <a:custGeom>
              <a:avLst/>
              <a:gdLst/>
              <a:ahLst/>
              <a:cxnLst/>
              <a:rect r="r" b="b" t="t" l="l"/>
              <a:pathLst>
                <a:path h="731520" w="8613648">
                  <a:moveTo>
                    <a:pt x="0" y="0"/>
                  </a:moveTo>
                  <a:lnTo>
                    <a:pt x="8613648" y="0"/>
                  </a:lnTo>
                  <a:lnTo>
                    <a:pt x="86136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9436" r="0" b="-179436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61364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b="true" sz="2850" spc="-168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512-D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399032" y="5033772"/>
            <a:ext cx="6460236" cy="603504"/>
            <a:chOff x="0" y="0"/>
            <a:chExt cx="8613648" cy="80467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613648" cy="804672"/>
            </a:xfrm>
            <a:custGeom>
              <a:avLst/>
              <a:gdLst/>
              <a:ahLst/>
              <a:cxnLst/>
              <a:rect r="r" b="b" t="t" l="l"/>
              <a:pathLst>
                <a:path h="804672" w="8613648">
                  <a:moveTo>
                    <a:pt x="0" y="0"/>
                  </a:moveTo>
                  <a:lnTo>
                    <a:pt x="8613648" y="0"/>
                  </a:lnTo>
                  <a:lnTo>
                    <a:pt x="8613648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8578" r="0" b="-15857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8613648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Feature vector length (global average pooled output)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97280" y="5897880"/>
            <a:ext cx="7063740" cy="1399032"/>
            <a:chOff x="0" y="0"/>
            <a:chExt cx="9418320" cy="18653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418320" cy="1865376"/>
            </a:xfrm>
            <a:custGeom>
              <a:avLst/>
              <a:gdLst/>
              <a:ahLst/>
              <a:cxnLst/>
              <a:rect r="r" b="b" t="t" l="l"/>
              <a:pathLst>
                <a:path h="1865376" w="941832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9253728" y="0"/>
                  </a:lnTo>
                  <a:cubicBezTo>
                    <a:pt x="9344660" y="0"/>
                    <a:pt x="9418320" y="73660"/>
                    <a:pt x="9418320" y="164592"/>
                  </a:cubicBezTo>
                  <a:lnTo>
                    <a:pt x="9418320" y="1700784"/>
                  </a:lnTo>
                  <a:cubicBezTo>
                    <a:pt x="9418320" y="1791716"/>
                    <a:pt x="9344660" y="1865376"/>
                    <a:pt x="9253728" y="1865376"/>
                  </a:cubicBezTo>
                  <a:lnTo>
                    <a:pt x="164592" y="1865376"/>
                  </a:lnTo>
                  <a:cubicBezTo>
                    <a:pt x="73660" y="1865376"/>
                    <a:pt x="0" y="1791716"/>
                    <a:pt x="0" y="1700784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399032" y="6035040"/>
            <a:ext cx="6460236" cy="548640"/>
            <a:chOff x="0" y="0"/>
            <a:chExt cx="8613648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613648" cy="731520"/>
            </a:xfrm>
            <a:custGeom>
              <a:avLst/>
              <a:gdLst/>
              <a:ahLst/>
              <a:cxnLst/>
              <a:rect r="r" b="b" t="t" l="l"/>
              <a:pathLst>
                <a:path h="731520" w="8613648">
                  <a:moveTo>
                    <a:pt x="0" y="0"/>
                  </a:moveTo>
                  <a:lnTo>
                    <a:pt x="8613648" y="0"/>
                  </a:lnTo>
                  <a:lnTo>
                    <a:pt x="86136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9436" r="0" b="-17943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861364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b="true" sz="2850" spc="-168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CONV1 → LAYER4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399032" y="6611112"/>
            <a:ext cx="6460236" cy="603504"/>
            <a:chOff x="0" y="0"/>
            <a:chExt cx="8613648" cy="80467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613648" cy="804672"/>
            </a:xfrm>
            <a:custGeom>
              <a:avLst/>
              <a:gdLst/>
              <a:ahLst/>
              <a:cxnLst/>
              <a:rect r="r" b="b" t="t" l="l"/>
              <a:pathLst>
                <a:path h="804672" w="8613648">
                  <a:moveTo>
                    <a:pt x="0" y="0"/>
                  </a:moveTo>
                  <a:lnTo>
                    <a:pt x="8613648" y="0"/>
                  </a:lnTo>
                  <a:lnTo>
                    <a:pt x="8613648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8578" r="0" b="-158578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8613648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Progression from raw edges to abstract, coarse patterns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97280" y="7475220"/>
            <a:ext cx="7063740" cy="1399032"/>
            <a:chOff x="0" y="0"/>
            <a:chExt cx="9418320" cy="186537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418320" cy="1865376"/>
            </a:xfrm>
            <a:custGeom>
              <a:avLst/>
              <a:gdLst/>
              <a:ahLst/>
              <a:cxnLst/>
              <a:rect r="r" b="b" t="t" l="l"/>
              <a:pathLst>
                <a:path h="1865376" w="941832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9253728" y="0"/>
                  </a:lnTo>
                  <a:cubicBezTo>
                    <a:pt x="9344660" y="0"/>
                    <a:pt x="9418320" y="73660"/>
                    <a:pt x="9418320" y="164592"/>
                  </a:cubicBezTo>
                  <a:lnTo>
                    <a:pt x="9418320" y="1700784"/>
                  </a:lnTo>
                  <a:cubicBezTo>
                    <a:pt x="9418320" y="1791716"/>
                    <a:pt x="9344660" y="1865376"/>
                    <a:pt x="9253728" y="1865376"/>
                  </a:cubicBezTo>
                  <a:lnTo>
                    <a:pt x="164592" y="1865376"/>
                  </a:lnTo>
                  <a:cubicBezTo>
                    <a:pt x="73660" y="1865376"/>
                    <a:pt x="0" y="1791716"/>
                    <a:pt x="0" y="1700784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399032" y="7612380"/>
            <a:ext cx="6460236" cy="548640"/>
            <a:chOff x="0" y="0"/>
            <a:chExt cx="8613648" cy="7315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613648" cy="731520"/>
            </a:xfrm>
            <a:custGeom>
              <a:avLst/>
              <a:gdLst/>
              <a:ahLst/>
              <a:cxnLst/>
              <a:rect r="r" b="b" t="t" l="l"/>
              <a:pathLst>
                <a:path h="731520" w="8613648">
                  <a:moveTo>
                    <a:pt x="0" y="0"/>
                  </a:moveTo>
                  <a:lnTo>
                    <a:pt x="8613648" y="0"/>
                  </a:lnTo>
                  <a:lnTo>
                    <a:pt x="86136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9436" r="0" b="-17943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861364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b="true" sz="2850" spc="-168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‖V‖ = 27.2523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399032" y="8188452"/>
            <a:ext cx="6460236" cy="603504"/>
            <a:chOff x="0" y="0"/>
            <a:chExt cx="8613648" cy="80467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613648" cy="804672"/>
            </a:xfrm>
            <a:custGeom>
              <a:avLst/>
              <a:gdLst/>
              <a:ahLst/>
              <a:cxnLst/>
              <a:rect r="r" b="b" t="t" l="l"/>
              <a:pathLst>
                <a:path h="804672" w="8613648">
                  <a:moveTo>
                    <a:pt x="0" y="0"/>
                  </a:moveTo>
                  <a:lnTo>
                    <a:pt x="8613648" y="0"/>
                  </a:lnTo>
                  <a:lnTo>
                    <a:pt x="8613648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8578" r="0" b="-158578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8613648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L2 norm of the final feature vector, a dense content summary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8709660" y="7416241"/>
            <a:ext cx="8435340" cy="548640"/>
            <a:chOff x="0" y="0"/>
            <a:chExt cx="11247120" cy="7315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1247120" cy="731520"/>
            </a:xfrm>
            <a:custGeom>
              <a:avLst/>
              <a:gdLst/>
              <a:ahLst/>
              <a:cxnLst/>
              <a:rect r="r" b="b" t="t" l="l"/>
              <a:pathLst>
                <a:path h="731520" w="11247120">
                  <a:moveTo>
                    <a:pt x="0" y="0"/>
                  </a:moveTo>
                  <a:lnTo>
                    <a:pt x="11247120" y="0"/>
                  </a:lnTo>
                  <a:lnTo>
                    <a:pt x="11247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9582" r="0" b="-249582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11247120" cy="731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Conv1 (early layer) vs. Layer4 (late layer) feature maps for the same input image.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7145000" y="9820656"/>
            <a:ext cx="548640" cy="384048"/>
            <a:chOff x="0" y="0"/>
            <a:chExt cx="731520" cy="51206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73152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b="true" sz="13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4</a:t>
              </a:r>
            </a:p>
          </p:txBody>
        </p:sp>
      </p:grpSp>
      <p:sp>
        <p:nvSpPr>
          <p:cNvPr name="Freeform 40" id="40"/>
          <p:cNvSpPr/>
          <p:nvPr/>
        </p:nvSpPr>
        <p:spPr>
          <a:xfrm flipH="false" flipV="false" rot="0">
            <a:off x="8600453" y="1307626"/>
            <a:ext cx="9308367" cy="3262084"/>
          </a:xfrm>
          <a:custGeom>
            <a:avLst/>
            <a:gdLst/>
            <a:ahLst/>
            <a:cxnLst/>
            <a:rect r="r" b="b" t="t" l="l"/>
            <a:pathLst>
              <a:path h="3262084" w="9308367">
                <a:moveTo>
                  <a:pt x="0" y="0"/>
                </a:moveTo>
                <a:lnTo>
                  <a:pt x="9308367" y="0"/>
                </a:lnTo>
                <a:lnTo>
                  <a:pt x="9308367" y="3262084"/>
                </a:lnTo>
                <a:lnTo>
                  <a:pt x="0" y="32620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8600453" y="4530206"/>
            <a:ext cx="9376813" cy="2945014"/>
          </a:xfrm>
          <a:custGeom>
            <a:avLst/>
            <a:gdLst/>
            <a:ahLst/>
            <a:cxnLst/>
            <a:rect r="r" b="b" t="t" l="l"/>
            <a:pathLst>
              <a:path h="2945014" w="9376813">
                <a:moveTo>
                  <a:pt x="0" y="0"/>
                </a:moveTo>
                <a:lnTo>
                  <a:pt x="9376813" y="0"/>
                </a:lnTo>
                <a:lnTo>
                  <a:pt x="9376813" y="2945014"/>
                </a:lnTo>
                <a:lnTo>
                  <a:pt x="0" y="29450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1097280" y="1851660"/>
            <a:ext cx="7063740" cy="1524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b="true" sz="2025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convolutional neural network pretrained on ImageNet is used purely as a feature extractor. Early layers respond to edges and colour; deeper layers respond to abstract shapes and object parts, the network learns what to look for, rather than being told.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754380" cy="754380"/>
            <a:chOff x="0" y="0"/>
            <a:chExt cx="1005840" cy="1005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3885A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576072"/>
            <a:ext cx="754380" cy="754380"/>
            <a:chOff x="0" y="0"/>
            <a:chExt cx="100584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1005840" cy="1005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b="true" sz="2700" spc="-159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04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851660" y="480060"/>
            <a:ext cx="15499080" cy="960120"/>
            <a:chOff x="0" y="0"/>
            <a:chExt cx="20665440" cy="1280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665439" cy="1280160"/>
            </a:xfrm>
            <a:custGeom>
              <a:avLst/>
              <a:gdLst/>
              <a:ahLst/>
              <a:cxnLst/>
              <a:rect r="r" b="b" t="t" l="l"/>
              <a:pathLst>
                <a:path h="1280160" w="20665439">
                  <a:moveTo>
                    <a:pt x="0" y="0"/>
                  </a:moveTo>
                  <a:lnTo>
                    <a:pt x="20665439" y="0"/>
                  </a:lnTo>
                  <a:lnTo>
                    <a:pt x="206654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4544" r="0" b="-26454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20665440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sz="4050" spc="-238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FROM IMAGES TO VIDEO AND WHAT WE LEARNED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87755" y="1663827"/>
            <a:ext cx="3832098" cy="704850"/>
            <a:chOff x="0" y="0"/>
            <a:chExt cx="5109464" cy="939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109464" cy="939800"/>
            </a:xfrm>
            <a:custGeom>
              <a:avLst/>
              <a:gdLst/>
              <a:ahLst/>
              <a:cxnLst/>
              <a:rect r="r" b="b" t="t" l="l"/>
              <a:pathLst>
                <a:path h="939800" w="5109464">
                  <a:moveTo>
                    <a:pt x="0" y="469900"/>
                  </a:moveTo>
                  <a:cubicBezTo>
                    <a:pt x="0" y="210439"/>
                    <a:pt x="210439" y="0"/>
                    <a:pt x="469900" y="0"/>
                  </a:cubicBezTo>
                  <a:lnTo>
                    <a:pt x="4639564" y="0"/>
                  </a:lnTo>
                  <a:cubicBezTo>
                    <a:pt x="4899025" y="0"/>
                    <a:pt x="5109464" y="210439"/>
                    <a:pt x="5109464" y="469900"/>
                  </a:cubicBezTo>
                  <a:cubicBezTo>
                    <a:pt x="5109464" y="729361"/>
                    <a:pt x="4899025" y="939800"/>
                    <a:pt x="4639564" y="939800"/>
                  </a:cubicBezTo>
                  <a:lnTo>
                    <a:pt x="469900" y="939800"/>
                  </a:lnTo>
                  <a:cubicBezTo>
                    <a:pt x="210439" y="939800"/>
                    <a:pt x="0" y="729361"/>
                    <a:pt x="0" y="469900"/>
                  </a:cubicBezTo>
                  <a:close/>
                </a:path>
              </a:pathLst>
            </a:custGeom>
            <a:solidFill>
              <a:srgbClr val="3885AB"/>
            </a:solidFill>
            <a:ln w="1905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097280" y="1673352"/>
            <a:ext cx="3813048" cy="685800"/>
            <a:chOff x="0" y="0"/>
            <a:chExt cx="5084064" cy="914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84064" cy="914400"/>
            </a:xfrm>
            <a:custGeom>
              <a:avLst/>
              <a:gdLst/>
              <a:ahLst/>
              <a:cxnLst/>
              <a:rect r="r" b="b" t="t" l="l"/>
              <a:pathLst>
                <a:path h="914400" w="5084064">
                  <a:moveTo>
                    <a:pt x="0" y="0"/>
                  </a:moveTo>
                  <a:lnTo>
                    <a:pt x="5084064" y="0"/>
                  </a:lnTo>
                  <a:lnTo>
                    <a:pt x="508406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8336" r="0" b="-58336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508406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b="true" sz="1800" spc="-106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1280×720 RESOLUTION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5120259" y="1663827"/>
            <a:ext cx="3832098" cy="704850"/>
            <a:chOff x="0" y="0"/>
            <a:chExt cx="5109464" cy="939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109464" cy="939800"/>
            </a:xfrm>
            <a:custGeom>
              <a:avLst/>
              <a:gdLst/>
              <a:ahLst/>
              <a:cxnLst/>
              <a:rect r="r" b="b" t="t" l="l"/>
              <a:pathLst>
                <a:path h="939800" w="5109464">
                  <a:moveTo>
                    <a:pt x="0" y="469900"/>
                  </a:moveTo>
                  <a:cubicBezTo>
                    <a:pt x="0" y="210439"/>
                    <a:pt x="210439" y="0"/>
                    <a:pt x="469900" y="0"/>
                  </a:cubicBezTo>
                  <a:lnTo>
                    <a:pt x="4639564" y="0"/>
                  </a:lnTo>
                  <a:cubicBezTo>
                    <a:pt x="4899025" y="0"/>
                    <a:pt x="5109464" y="210439"/>
                    <a:pt x="5109464" y="469900"/>
                  </a:cubicBezTo>
                  <a:cubicBezTo>
                    <a:pt x="5109464" y="729361"/>
                    <a:pt x="4899025" y="939800"/>
                    <a:pt x="4639564" y="939800"/>
                  </a:cubicBezTo>
                  <a:lnTo>
                    <a:pt x="469900" y="939800"/>
                  </a:lnTo>
                  <a:cubicBezTo>
                    <a:pt x="210439" y="939800"/>
                    <a:pt x="0" y="729361"/>
                    <a:pt x="0" y="469900"/>
                  </a:cubicBezTo>
                  <a:close/>
                </a:path>
              </a:pathLst>
            </a:custGeom>
            <a:solidFill>
              <a:srgbClr val="3885AB"/>
            </a:solidFill>
            <a:ln w="1905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5129784" y="1673352"/>
            <a:ext cx="3813048" cy="685800"/>
            <a:chOff x="0" y="0"/>
            <a:chExt cx="5084064" cy="9144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084064" cy="914400"/>
            </a:xfrm>
            <a:custGeom>
              <a:avLst/>
              <a:gdLst/>
              <a:ahLst/>
              <a:cxnLst/>
              <a:rect r="r" b="b" t="t" l="l"/>
              <a:pathLst>
                <a:path h="914400" w="5084064">
                  <a:moveTo>
                    <a:pt x="0" y="0"/>
                  </a:moveTo>
                  <a:lnTo>
                    <a:pt x="5084064" y="0"/>
                  </a:lnTo>
                  <a:lnTo>
                    <a:pt x="508406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8336" r="0" b="-5833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08406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b="true" sz="1800" spc="-106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23.98 FPS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152763" y="1663827"/>
            <a:ext cx="3832098" cy="704850"/>
            <a:chOff x="0" y="0"/>
            <a:chExt cx="5109464" cy="939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109464" cy="939800"/>
            </a:xfrm>
            <a:custGeom>
              <a:avLst/>
              <a:gdLst/>
              <a:ahLst/>
              <a:cxnLst/>
              <a:rect r="r" b="b" t="t" l="l"/>
              <a:pathLst>
                <a:path h="939800" w="5109464">
                  <a:moveTo>
                    <a:pt x="0" y="469900"/>
                  </a:moveTo>
                  <a:cubicBezTo>
                    <a:pt x="0" y="210439"/>
                    <a:pt x="210439" y="0"/>
                    <a:pt x="469900" y="0"/>
                  </a:cubicBezTo>
                  <a:lnTo>
                    <a:pt x="4639564" y="0"/>
                  </a:lnTo>
                  <a:cubicBezTo>
                    <a:pt x="4899025" y="0"/>
                    <a:pt x="5109464" y="210439"/>
                    <a:pt x="5109464" y="469900"/>
                  </a:cubicBezTo>
                  <a:cubicBezTo>
                    <a:pt x="5109464" y="729361"/>
                    <a:pt x="4899025" y="939800"/>
                    <a:pt x="4639564" y="939800"/>
                  </a:cubicBezTo>
                  <a:lnTo>
                    <a:pt x="469900" y="939800"/>
                  </a:lnTo>
                  <a:cubicBezTo>
                    <a:pt x="210439" y="939800"/>
                    <a:pt x="0" y="729361"/>
                    <a:pt x="0" y="469900"/>
                  </a:cubicBezTo>
                  <a:close/>
                </a:path>
              </a:pathLst>
            </a:custGeom>
            <a:solidFill>
              <a:srgbClr val="3885AB"/>
            </a:solidFill>
            <a:ln w="1905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9162288" y="1673352"/>
            <a:ext cx="3813048" cy="685800"/>
            <a:chOff x="0" y="0"/>
            <a:chExt cx="5084064" cy="9144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084064" cy="914400"/>
            </a:xfrm>
            <a:custGeom>
              <a:avLst/>
              <a:gdLst/>
              <a:ahLst/>
              <a:cxnLst/>
              <a:rect r="r" b="b" t="t" l="l"/>
              <a:pathLst>
                <a:path h="914400" w="5084064">
                  <a:moveTo>
                    <a:pt x="0" y="0"/>
                  </a:moveTo>
                  <a:lnTo>
                    <a:pt x="5084064" y="0"/>
                  </a:lnTo>
                  <a:lnTo>
                    <a:pt x="508406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8336" r="0" b="-58336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508406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b="true" sz="1800" spc="-106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361 FRAMES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3185267" y="1663827"/>
            <a:ext cx="3832098" cy="704850"/>
            <a:chOff x="0" y="0"/>
            <a:chExt cx="5109464" cy="939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109464" cy="939800"/>
            </a:xfrm>
            <a:custGeom>
              <a:avLst/>
              <a:gdLst/>
              <a:ahLst/>
              <a:cxnLst/>
              <a:rect r="r" b="b" t="t" l="l"/>
              <a:pathLst>
                <a:path h="939800" w="5109464">
                  <a:moveTo>
                    <a:pt x="0" y="469900"/>
                  </a:moveTo>
                  <a:cubicBezTo>
                    <a:pt x="0" y="210439"/>
                    <a:pt x="210439" y="0"/>
                    <a:pt x="469900" y="0"/>
                  </a:cubicBezTo>
                  <a:lnTo>
                    <a:pt x="4639564" y="0"/>
                  </a:lnTo>
                  <a:cubicBezTo>
                    <a:pt x="4899025" y="0"/>
                    <a:pt x="5109464" y="210439"/>
                    <a:pt x="5109464" y="469900"/>
                  </a:cubicBezTo>
                  <a:cubicBezTo>
                    <a:pt x="5109464" y="729361"/>
                    <a:pt x="4899025" y="939800"/>
                    <a:pt x="4639564" y="939800"/>
                  </a:cubicBezTo>
                  <a:lnTo>
                    <a:pt x="469900" y="939800"/>
                  </a:lnTo>
                  <a:cubicBezTo>
                    <a:pt x="210439" y="939800"/>
                    <a:pt x="0" y="729361"/>
                    <a:pt x="0" y="469900"/>
                  </a:cubicBezTo>
                  <a:close/>
                </a:path>
              </a:pathLst>
            </a:custGeom>
            <a:solidFill>
              <a:srgbClr val="3885AB"/>
            </a:solidFill>
            <a:ln w="1905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3194792" y="1673352"/>
            <a:ext cx="3813048" cy="685800"/>
            <a:chOff x="0" y="0"/>
            <a:chExt cx="5084064" cy="9144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084064" cy="914400"/>
            </a:xfrm>
            <a:custGeom>
              <a:avLst/>
              <a:gdLst/>
              <a:ahLst/>
              <a:cxnLst/>
              <a:rect r="r" b="b" t="t" l="l"/>
              <a:pathLst>
                <a:path h="914400" w="5084064">
                  <a:moveTo>
                    <a:pt x="0" y="0"/>
                  </a:moveTo>
                  <a:lnTo>
                    <a:pt x="5084064" y="0"/>
                  </a:lnTo>
                  <a:lnTo>
                    <a:pt x="508406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8336" r="0" b="-58336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508406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b="true" sz="1800" spc="-106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15.06 S DURATION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97280" y="2715768"/>
            <a:ext cx="16088868" cy="3431743"/>
            <a:chOff x="0" y="0"/>
            <a:chExt cx="21451824" cy="4575658"/>
          </a:xfrm>
        </p:grpSpPr>
        <p:sp>
          <p:nvSpPr>
            <p:cNvPr name="Freeform 31" id="31" descr="/home/claude/nb_images_crop/cell12_row1.png"/>
            <p:cNvSpPr/>
            <p:nvPr/>
          </p:nvSpPr>
          <p:spPr>
            <a:xfrm flipH="false" flipV="false" rot="0">
              <a:off x="0" y="0"/>
              <a:ext cx="21451824" cy="4575683"/>
            </a:xfrm>
            <a:custGeom>
              <a:avLst/>
              <a:gdLst/>
              <a:ahLst/>
              <a:cxnLst/>
              <a:rect r="r" b="b" t="t" l="l"/>
              <a:pathLst>
                <a:path h="4575683" w="21451824">
                  <a:moveTo>
                    <a:pt x="0" y="0"/>
                  </a:moveTo>
                  <a:lnTo>
                    <a:pt x="21451824" y="0"/>
                  </a:lnTo>
                  <a:lnTo>
                    <a:pt x="21451824" y="4575683"/>
                  </a:lnTo>
                  <a:lnTo>
                    <a:pt x="0" y="45756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5" r="0" b="-4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6229807"/>
            <a:ext cx="16088868" cy="438912"/>
            <a:chOff x="0" y="0"/>
            <a:chExt cx="21451824" cy="58521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451824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1824">
                  <a:moveTo>
                    <a:pt x="0" y="0"/>
                  </a:moveTo>
                  <a:lnTo>
                    <a:pt x="21451824" y="0"/>
                  </a:lnTo>
                  <a:lnTo>
                    <a:pt x="214518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64248" r="0" b="-664248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451824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Spatial feature (Canny edge density) and temporal feature (frame-differencing motion) extracted for every frame.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097280" y="6833311"/>
            <a:ext cx="5382158" cy="3110789"/>
            <a:chOff x="0" y="0"/>
            <a:chExt cx="7176211" cy="4147718"/>
          </a:xfrm>
        </p:grpSpPr>
        <p:sp>
          <p:nvSpPr>
            <p:cNvPr name="Freeform 36" id="36" descr="/home/claude/nb_images/cell12_out1.png"/>
            <p:cNvSpPr/>
            <p:nvPr/>
          </p:nvSpPr>
          <p:spPr>
            <a:xfrm flipH="false" flipV="false" rot="0">
              <a:off x="0" y="0"/>
              <a:ext cx="7176262" cy="4147693"/>
            </a:xfrm>
            <a:custGeom>
              <a:avLst/>
              <a:gdLst/>
              <a:ahLst/>
              <a:cxnLst/>
              <a:rect r="r" b="b" t="t" l="l"/>
              <a:pathLst>
                <a:path h="4147693" w="7176262">
                  <a:moveTo>
                    <a:pt x="0" y="0"/>
                  </a:moveTo>
                  <a:lnTo>
                    <a:pt x="7176262" y="0"/>
                  </a:lnTo>
                  <a:lnTo>
                    <a:pt x="7176262" y="4147693"/>
                  </a:lnTo>
                  <a:lnTo>
                    <a:pt x="0" y="41476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" t="0" r="-4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7096658" y="6833311"/>
            <a:ext cx="10089490" cy="3110789"/>
            <a:chOff x="0" y="0"/>
            <a:chExt cx="13452653" cy="4147718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3452602" cy="4147693"/>
            </a:xfrm>
            <a:custGeom>
              <a:avLst/>
              <a:gdLst/>
              <a:ahLst/>
              <a:cxnLst/>
              <a:rect r="r" b="b" t="t" l="l"/>
              <a:pathLst>
                <a:path h="4147693" w="13452602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13269722" y="0"/>
                  </a:lnTo>
                  <a:cubicBezTo>
                    <a:pt x="13370686" y="0"/>
                    <a:pt x="13452602" y="81915"/>
                    <a:pt x="13452602" y="182880"/>
                  </a:cubicBezTo>
                  <a:lnTo>
                    <a:pt x="13452602" y="3964813"/>
                  </a:lnTo>
                  <a:cubicBezTo>
                    <a:pt x="13452602" y="4065778"/>
                    <a:pt x="13370686" y="4147693"/>
                    <a:pt x="13269722" y="4147693"/>
                  </a:cubicBezTo>
                  <a:lnTo>
                    <a:pt x="182880" y="4147693"/>
                  </a:lnTo>
                  <a:cubicBezTo>
                    <a:pt x="81915" y="4147693"/>
                    <a:pt x="0" y="4065778"/>
                    <a:pt x="0" y="3964813"/>
                  </a:cubicBezTo>
                  <a:close/>
                </a:path>
              </a:pathLst>
            </a:custGeom>
            <a:solidFill>
              <a:srgbClr val="3885AB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7508138" y="7107631"/>
            <a:ext cx="9266530" cy="411480"/>
            <a:chOff x="0" y="0"/>
            <a:chExt cx="12355373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55372" cy="548640"/>
            </a:xfrm>
            <a:custGeom>
              <a:avLst/>
              <a:gdLst/>
              <a:ahLst/>
              <a:cxnLst/>
              <a:rect r="r" b="b" t="t" l="l"/>
              <a:pathLst>
                <a:path h="548640" w="12355372">
                  <a:moveTo>
                    <a:pt x="0" y="0"/>
                  </a:moveTo>
                  <a:lnTo>
                    <a:pt x="12355372" y="0"/>
                  </a:lnTo>
                  <a:lnTo>
                    <a:pt x="1235537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88803" r="0" b="-388803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9525"/>
              <a:ext cx="12355373" cy="5391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-101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CONCLUSION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7508138" y="7559116"/>
            <a:ext cx="9266530" cy="12447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3"/>
              </a:lnSpc>
            </a:pPr>
            <a:r>
              <a:rPr lang="en-US" b="true" sz="1800">
                <a:solidFill>
                  <a:srgbClr val="FBF6F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PCA, Canny, and ResNet18 capture complementary aspects of an image - variance, structure, and abstraction. Extending the same idea to video adds spatial and temporal features over time, turning raw pixels and frames into compact inputs ready for classification, retrieval, detection, or clustering.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2122658" y="9902952"/>
            <a:ext cx="9601200" cy="384048"/>
            <a:chOff x="0" y="0"/>
            <a:chExt cx="12801600" cy="5120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2801600" cy="512064"/>
            </a:xfrm>
            <a:custGeom>
              <a:avLst/>
              <a:gdLst/>
              <a:ahLst/>
              <a:cxnLst/>
              <a:rect r="r" b="b" t="t" l="l"/>
              <a:pathLst>
                <a:path h="512064" w="12801600">
                  <a:moveTo>
                    <a:pt x="0" y="0"/>
                  </a:moveTo>
                  <a:lnTo>
                    <a:pt x="12801600" y="0"/>
                  </a:lnTo>
                  <a:lnTo>
                    <a:pt x="128016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1280160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Feature Extraction for Video Analysis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7145000" y="9820656"/>
            <a:ext cx="548640" cy="384048"/>
            <a:chOff x="0" y="0"/>
            <a:chExt cx="731520" cy="51206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731520" cy="512064"/>
            </a:xfrm>
            <a:custGeom>
              <a:avLst/>
              <a:gdLst/>
              <a:ahLst/>
              <a:cxnLst/>
              <a:rect r="r" b="b" t="t" l="l"/>
              <a:pathLst>
                <a:path h="51206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12" t="0" r="-39812" b="0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0"/>
              <a:ext cx="73152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b="true" sz="1350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9144000" y="3001718"/>
            <a:ext cx="8346347" cy="4694820"/>
          </a:xfrm>
          <a:prstGeom prst="rect">
            <a:avLst/>
          </a:prstGeom>
        </p:spPr>
      </p:pic>
      <p:pic>
        <p:nvPicPr>
          <p:cNvPr name="Picture 3" id="3">
            <a:hlinkClick action="ppaction://media"/>
          </p:cNvPr>
          <p:cNvPicPr>
            <a:picLocks noChangeAspect="true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5"/>
          <a:srcRect l="0" t="0" r="0" b="0"/>
          <a:stretch>
            <a:fillRect/>
          </a:stretch>
        </p:blipFill>
        <p:spPr>
          <a:xfrm flipH="false" flipV="false" rot="0">
            <a:off x="589144" y="3001718"/>
            <a:ext cx="7782552" cy="43776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DAHUEAGUPzQ</dc:identifier>
  <dcterms:modified xsi:type="dcterms:W3CDTF">2011-08-01T06:04:30Z</dcterms:modified>
  <cp:revision>1</cp:revision>
  <dc:title>Feature Extraction for Image &amp; Video Analysis</dc:title>
</cp:coreProperties>
</file>