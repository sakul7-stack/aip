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84048"/>
            <a:ext cx="9601200" cy="5029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2800" b="1">
                <a:solidFill>
                  <a:srgbClr val="182B48"/>
                </a:solidFill>
                <a:latin typeface="Aptos"/>
              </a:rPr>
              <a:t>Feature Extraction from Image and Video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941832"/>
            <a:ext cx="10241280" cy="2743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250" b="0">
                <a:solidFill>
                  <a:srgbClr val="697484"/>
                </a:solidFill>
                <a:latin typeface="Aptos"/>
              </a:rPr>
              <a:t>A simple way to convert pixels into useful numbers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89920" y="438912"/>
            <a:ext cx="731520" cy="22860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r"/>
            <a:r>
              <a:rPr sz="1100" b="1">
                <a:solidFill>
                  <a:srgbClr val="2E67AA"/>
                </a:solidFill>
                <a:latin typeface="Aptos"/>
              </a:rPr>
              <a:t>1 / 2</a:t>
            </a:r>
          </a:p>
        </p:txBody>
      </p:sp>
      <p:sp>
        <p:nvSpPr>
          <p:cNvPr id="5" name="Rectangle 4"/>
          <p:cNvSpPr/>
          <p:nvPr/>
        </p:nvSpPr>
        <p:spPr>
          <a:xfrm>
            <a:off x="621792" y="1298448"/>
            <a:ext cx="10927080" cy="13716"/>
          </a:xfrm>
          <a:prstGeom prst="rect">
            <a:avLst/>
          </a:prstGeom>
          <a:solidFill>
            <a:srgbClr val="D7DEE8"/>
          </a:solidFill>
          <a:ln>
            <a:solidFill>
              <a:srgbClr val="D7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fin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" y="1645920"/>
            <a:ext cx="3794760" cy="361188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731520" y="5376672"/>
            <a:ext cx="3657600" cy="22860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ctr"/>
            <a:r>
              <a:rPr sz="1050" b="0">
                <a:solidFill>
                  <a:srgbClr val="697484"/>
                </a:solidFill>
                <a:latin typeface="Aptos"/>
              </a:rPr>
              <a:t>Sample image: final.png</a:t>
            </a:r>
          </a:p>
        </p:txBody>
      </p:sp>
      <p:sp>
        <p:nvSpPr>
          <p:cNvPr id="8" name="Rectangle 7"/>
          <p:cNvSpPr/>
          <p:nvPr/>
        </p:nvSpPr>
        <p:spPr>
          <a:xfrm>
            <a:off x="4892040" y="1691640"/>
            <a:ext cx="6172200" cy="3566160"/>
          </a:xfrm>
          <a:prstGeom prst="rect">
            <a:avLst/>
          </a:prstGeom>
          <a:solidFill>
            <a:srgbClr val="FFFFFF"/>
          </a:solidFill>
          <a:ln>
            <a:solidFill>
              <a:srgbClr val="E1E6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212080" y="1965960"/>
            <a:ext cx="5394960" cy="36576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2200" b="1">
                <a:solidFill>
                  <a:srgbClr val="182B48"/>
                </a:solidFill>
                <a:latin typeface="Aptos"/>
              </a:rPr>
              <a:t>What the code does</a:t>
            </a:r>
          </a:p>
        </p:txBody>
      </p:sp>
      <p:sp>
        <p:nvSpPr>
          <p:cNvPr id="10" name="Rectangle 9"/>
          <p:cNvSpPr/>
          <p:nvPr/>
        </p:nvSpPr>
        <p:spPr>
          <a:xfrm>
            <a:off x="5230368" y="2606040"/>
            <a:ext cx="73152" cy="384048"/>
          </a:xfrm>
          <a:prstGeom prst="rect">
            <a:avLst/>
          </a:prstGeom>
          <a:solidFill>
            <a:srgbClr val="2E67AA"/>
          </a:solidFill>
          <a:ln>
            <a:solidFill>
              <a:srgbClr val="2E67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806440" y="2587752"/>
            <a:ext cx="1005840" cy="292608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600" b="1">
                <a:solidFill>
                  <a:srgbClr val="182B48"/>
                </a:solidFill>
                <a:latin typeface="Aptos"/>
              </a:rPr>
              <a:t>PCA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720840" y="2587752"/>
            <a:ext cx="3749039" cy="292608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400" b="0">
                <a:solidFill>
                  <a:srgbClr val="2D2D2D"/>
                </a:solidFill>
                <a:latin typeface="Aptos"/>
              </a:rPr>
              <a:t>Reduces the image into fewer numbers.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230368" y="3246120"/>
            <a:ext cx="73152" cy="384048"/>
          </a:xfrm>
          <a:prstGeom prst="rect">
            <a:avLst/>
          </a:prstGeom>
          <a:solidFill>
            <a:srgbClr val="2E67AA"/>
          </a:solidFill>
          <a:ln>
            <a:solidFill>
              <a:srgbClr val="2E67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806440" y="3227832"/>
            <a:ext cx="1143000" cy="292608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600" b="1">
                <a:solidFill>
                  <a:srgbClr val="182B48"/>
                </a:solidFill>
                <a:latin typeface="Aptos"/>
              </a:rPr>
              <a:t>Canny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720840" y="3227832"/>
            <a:ext cx="3749039" cy="292608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400" b="0">
                <a:solidFill>
                  <a:srgbClr val="2D2D2D"/>
                </a:solidFill>
                <a:latin typeface="Aptos"/>
              </a:rPr>
              <a:t>Finds edges and object boundaries.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230368" y="3886200"/>
            <a:ext cx="73152" cy="384048"/>
          </a:xfrm>
          <a:prstGeom prst="rect">
            <a:avLst/>
          </a:prstGeom>
          <a:solidFill>
            <a:srgbClr val="2E67AA"/>
          </a:solidFill>
          <a:ln>
            <a:solidFill>
              <a:srgbClr val="2E67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806440" y="3867912"/>
            <a:ext cx="1325880" cy="292608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600" b="1">
                <a:solidFill>
                  <a:srgbClr val="182B48"/>
                </a:solidFill>
                <a:latin typeface="Aptos"/>
              </a:rPr>
              <a:t>ResNet18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132320" y="3867912"/>
            <a:ext cx="3337560" cy="41148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400" b="0">
                <a:solidFill>
                  <a:srgbClr val="2D2D2D"/>
                </a:solidFill>
                <a:latin typeface="Aptos"/>
              </a:rPr>
              <a:t>Creates a learned 512-value image feature.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212080" y="4617720"/>
            <a:ext cx="5349240" cy="393192"/>
          </a:xfrm>
          <a:prstGeom prst="rect">
            <a:avLst/>
          </a:prstGeom>
          <a:solidFill>
            <a:srgbClr val="E8F0FA"/>
          </a:solidFill>
          <a:ln>
            <a:solidFill>
              <a:srgbClr val="E8F0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376672" y="4690872"/>
            <a:ext cx="5029200" cy="22860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ctr"/>
            <a:r>
              <a:rPr sz="1250" b="1">
                <a:solidFill>
                  <a:srgbClr val="2E67AA"/>
                </a:solidFill>
                <a:latin typeface="Aptos"/>
              </a:rPr>
              <a:t>Goal: represent the image without using every raw pixel.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85800" y="6172200"/>
            <a:ext cx="4572000" cy="201168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850" b="0">
                <a:solidFill>
                  <a:srgbClr val="697484"/>
                </a:solidFill>
                <a:latin typeface="Aptos"/>
              </a:rPr>
              <a:t>Photo used: final.png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84048"/>
            <a:ext cx="9601200" cy="5029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2800" b="1">
                <a:solidFill>
                  <a:srgbClr val="182B48"/>
                </a:solidFill>
                <a:latin typeface="Aptos"/>
              </a:rPr>
              <a:t>Video Features and Main Takeaway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941832"/>
            <a:ext cx="10241280" cy="2743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250" b="0">
                <a:solidFill>
                  <a:srgbClr val="697484"/>
                </a:solidFill>
                <a:latin typeface="Aptos"/>
              </a:rPr>
              <a:t>The video is read one frame at a time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89920" y="438912"/>
            <a:ext cx="731520" cy="22860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r"/>
            <a:r>
              <a:rPr sz="1100" b="1">
                <a:solidFill>
                  <a:srgbClr val="2E67AA"/>
                </a:solidFill>
                <a:latin typeface="Aptos"/>
              </a:rPr>
              <a:t>2 / 2</a:t>
            </a:r>
          </a:p>
        </p:txBody>
      </p:sp>
      <p:sp>
        <p:nvSpPr>
          <p:cNvPr id="5" name="Rectangle 4"/>
          <p:cNvSpPr/>
          <p:nvPr/>
        </p:nvSpPr>
        <p:spPr>
          <a:xfrm>
            <a:off x="621792" y="1298448"/>
            <a:ext cx="10927080" cy="13716"/>
          </a:xfrm>
          <a:prstGeom prst="rect">
            <a:avLst/>
          </a:prstGeom>
          <a:solidFill>
            <a:srgbClr val="D7DEE8"/>
          </a:solidFill>
          <a:ln>
            <a:solidFill>
              <a:srgbClr val="D7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85800" y="1691640"/>
            <a:ext cx="3703320" cy="3977639"/>
          </a:xfrm>
          <a:prstGeom prst="rect">
            <a:avLst/>
          </a:prstGeom>
          <a:solidFill>
            <a:srgbClr val="FFFFFF"/>
          </a:solidFill>
          <a:ln>
            <a:solidFill>
              <a:srgbClr val="E1E6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2057400"/>
            <a:ext cx="3063240" cy="41148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ctr"/>
            <a:r>
              <a:rPr sz="2500" b="1">
                <a:solidFill>
                  <a:srgbClr val="182B48"/>
                </a:solidFill>
                <a:latin typeface="Aptos"/>
              </a:rPr>
              <a:t>video.mp4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2651760"/>
            <a:ext cx="3063240" cy="86868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ctr"/>
            <a:r>
              <a:rPr sz="1800" b="0">
                <a:solidFill>
                  <a:srgbClr val="2D2D2D"/>
                </a:solidFill>
                <a:latin typeface="Aptos"/>
              </a:rPr>
              <a:t>1920 × 1080 pixels
15.06 seconds
about 24 FPS</a:t>
            </a:r>
          </a:p>
        </p:txBody>
      </p:sp>
      <p:sp>
        <p:nvSpPr>
          <p:cNvPr id="9" name="Rectangle 8"/>
          <p:cNvSpPr/>
          <p:nvPr/>
        </p:nvSpPr>
        <p:spPr>
          <a:xfrm>
            <a:off x="1078992" y="3886200"/>
            <a:ext cx="2926080" cy="530352"/>
          </a:xfrm>
          <a:prstGeom prst="rect">
            <a:avLst/>
          </a:prstGeom>
          <a:solidFill>
            <a:srgbClr val="E8F5ED"/>
          </a:solidFill>
          <a:ln>
            <a:solidFill>
              <a:srgbClr val="E8F5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88720" y="4023360"/>
            <a:ext cx="2697480" cy="22860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ctr"/>
            <a:r>
              <a:rPr sz="1400" b="1">
                <a:solidFill>
                  <a:srgbClr val="2E67AA"/>
                </a:solidFill>
                <a:latin typeface="Aptos"/>
              </a:rPr>
              <a:t>Canny → edge density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078992" y="4617720"/>
            <a:ext cx="2926080" cy="530352"/>
          </a:xfrm>
          <a:prstGeom prst="rect">
            <a:avLst/>
          </a:prstGeom>
          <a:solidFill>
            <a:srgbClr val="E8F0FA"/>
          </a:solidFill>
          <a:ln>
            <a:solidFill>
              <a:srgbClr val="E8F0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43000" y="4754880"/>
            <a:ext cx="2788920" cy="22860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ctr"/>
            <a:r>
              <a:rPr sz="1400" b="1">
                <a:solidFill>
                  <a:srgbClr val="2E67AA"/>
                </a:solidFill>
                <a:latin typeface="Aptos"/>
              </a:rPr>
              <a:t>Frame difference → motion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892040" y="1691640"/>
            <a:ext cx="6172200" cy="3977639"/>
          </a:xfrm>
          <a:prstGeom prst="rect">
            <a:avLst/>
          </a:prstGeom>
          <a:solidFill>
            <a:srgbClr val="FFFFFF"/>
          </a:solidFill>
          <a:ln>
            <a:solidFill>
              <a:srgbClr val="E1E6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257800" y="2057400"/>
            <a:ext cx="5303520" cy="384048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2300" b="1">
                <a:solidFill>
                  <a:srgbClr val="182B48"/>
                </a:solidFill>
                <a:latin typeface="Aptos"/>
              </a:rPr>
              <a:t>What I learned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285232" y="2743200"/>
            <a:ext cx="5257800" cy="41148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700" b="0">
                <a:solidFill>
                  <a:srgbClr val="2D2D2D"/>
                </a:solidFill>
                <a:latin typeface="Aptos"/>
              </a:rPr>
              <a:t>• PCA is compact, but it can lose visual detail.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285232" y="3337560"/>
            <a:ext cx="5257800" cy="41148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700" b="0">
                <a:solidFill>
                  <a:srgbClr val="2D2D2D"/>
                </a:solidFill>
                <a:latin typeface="Aptos"/>
              </a:rPr>
              <a:t>• Canny gives an easy-to-understand edge feature.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285232" y="3931920"/>
            <a:ext cx="5257800" cy="41148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700" b="0">
                <a:solidFill>
                  <a:srgbClr val="2D2D2D"/>
                </a:solidFill>
                <a:latin typeface="Aptos"/>
              </a:rPr>
              <a:t>• ResNet18 gives a powerful learned feature vector.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285232" y="4526280"/>
            <a:ext cx="5257800" cy="41148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700" b="0">
                <a:solidFill>
                  <a:srgbClr val="2D2D2D"/>
                </a:solidFill>
                <a:latin typeface="Aptos"/>
              </a:rPr>
              <a:t>• Video features describe both structure and movement.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257800" y="5166360"/>
            <a:ext cx="5394960" cy="347472"/>
          </a:xfrm>
          <a:prstGeom prst="rect">
            <a:avLst/>
          </a:prstGeom>
          <a:solidFill>
            <a:srgbClr val="E8F0FA"/>
          </a:solidFill>
          <a:ln>
            <a:solidFill>
              <a:srgbClr val="E8F0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394960" y="5221224"/>
            <a:ext cx="5120640" cy="201168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ctr"/>
            <a:r>
              <a:rPr sz="1150" b="1">
                <a:solidFill>
                  <a:srgbClr val="2E67AA"/>
                </a:solidFill>
                <a:latin typeface="Aptos"/>
              </a:rPr>
              <a:t>Next: use more images and preserve the original aspect ratio.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13232" y="6172200"/>
            <a:ext cx="4114800" cy="201168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850" b="0">
                <a:solidFill>
                  <a:srgbClr val="697484"/>
                </a:solidFill>
                <a:latin typeface="Aptos"/>
              </a:rPr>
              <a:t>Video source: FileSamples sample MP4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